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TRACK 1 · AI/ML — OPEN INNOVATION · STUDENT TRACK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6035040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03504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Team Panda</a:t>
            </a:r>
            <a:r>
              <a:rPr sz="1500" b="0" i="0">
                <a:solidFill>
                  <a:srgbClr val="C9D3E6"/>
                </a:solidFill>
                <a:latin typeface="Arial"/>
              </a:rPr>
              <a:t>   ·   Track 1: AI/ML — Open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5F6672"/>
                </a:solidFill>
                <a:latin typeface="Arial"/>
              </a:rPr>
              <a:t>An AI agent that spots dark patterns on subscription pages, walks the cancel maze for you, and asks before the last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5120640" cy="640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59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55CC"/>
                </a:solidFill>
                <a:latin typeface="Arial"/>
              </a:rPr>
              <a:t>Detects  </a:t>
            </a:r>
            <a:r>
              <a:rPr sz="1400" b="0" i="0">
                <a:solidFill>
                  <a:srgbClr val="1B1F3B"/>
                </a:solidFill>
                <a:latin typeface="Arial"/>
              </a:rPr>
              <a:t>13 dark-pattern types, each backed by a quote from the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80559"/>
            <a:ext cx="5120640" cy="640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1999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55CC"/>
                </a:solidFill>
                <a:latin typeface="Arial"/>
              </a:rPr>
              <a:t>Acts  </a:t>
            </a:r>
            <a:r>
              <a:rPr sz="1400" b="0" i="0">
                <a:solidFill>
                  <a:srgbClr val="1B1F3B"/>
                </a:solidFill>
                <a:latin typeface="Arial"/>
              </a:rPr>
              <a:t>Steps around retention traps to reach the real cancel screen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5120640" cy="640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55CC"/>
                </a:solidFill>
                <a:latin typeface="Arial"/>
              </a:rPr>
              <a:t>Scales with TinyFish  </a:t>
            </a:r>
            <a:r>
              <a:rPr sz="1400" b="0" i="0">
                <a:solidFill>
                  <a:srgbClr val="1B1F3B"/>
                </a:solidFill>
                <a:latin typeface="Arial"/>
              </a:rPr>
              <a:t>Hosted web agents run sweeps across thousands of sites</a:t>
            </a:r>
          </a:p>
        </p:txBody>
      </p:sp>
      <p:pic>
        <p:nvPicPr>
          <p:cNvPr id="13" name="Picture 12" descr="targe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10658"/>
            <a:ext cx="5394960" cy="3779482"/>
          </a:xfrm>
          <a:prstGeom prst="rect">
            <a:avLst/>
          </a:prstGeom>
          <a:ln w="12700">
            <a:solidFill>
              <a:srgbClr val="BFC4CC"/>
            </a:solidFill>
          </a:ln>
        </p:spPr>
      </p:pic>
      <p:sp>
        <p:nvSpPr>
          <p:cNvPr id="14" name="Oval 13"/>
          <p:cNvSpPr/>
          <p:nvPr/>
        </p:nvSpPr>
        <p:spPr>
          <a:xfrm>
            <a:off x="10117836" y="4105644"/>
            <a:ext cx="1554480" cy="457200"/>
          </a:xfrm>
          <a:prstGeom prst="ellipse">
            <a:avLst/>
          </a:prstGeom>
          <a:noFill/>
          <a:ln w="28575">
            <a:solidFill>
              <a:srgbClr val="C83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8445" y="4689026"/>
            <a:ext cx="1188720" cy="310896"/>
          </a:xfrm>
          <a:prstGeom prst="ellipse">
            <a:avLst/>
          </a:prstGeom>
          <a:noFill/>
          <a:ln w="28575">
            <a:solidFill>
              <a:srgbClr val="C83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522730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8364B"/>
                </a:solidFill>
                <a:latin typeface="Arial"/>
              </a:rPr>
              <a:t>Misdirection: </a:t>
            </a:r>
            <a:r>
              <a:rPr sz="1200" b="0" i="0">
                <a:solidFill>
                  <a:srgbClr val="1B1F3B"/>
                </a:solidFill>
                <a:latin typeface="Arial"/>
              </a:rPr>
              <a:t>the loud button keeps you paying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22730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8364B"/>
                </a:solidFill>
                <a:latin typeface="Arial"/>
              </a:rPr>
              <a:t>Roach motel: </a:t>
            </a:r>
            <a:r>
              <a:rPr sz="1200" b="0" i="0">
                <a:solidFill>
                  <a:srgbClr val="1B1F3B"/>
                </a:solidFill>
                <a:latin typeface="Arial"/>
              </a:rPr>
              <a:t>the exit is a faint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61722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Our StreamVault test site, built with the same tricks real subscription pages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01 ·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Most subscription sites are built to keep you paying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Sources: FTC / ICPEN / GPEN review of 642 subscription sites and apps, July 2024 · CCPA Guidelines for Prevention and Regulation of Dark Patterns, 30 Nov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2/11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576072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llo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3" y="1874519"/>
            <a:ext cx="5401993" cy="4389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46520" y="1783080"/>
            <a:ext cx="530352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55CC"/>
                </a:solidFill>
                <a:latin typeface="Arial"/>
              </a:rPr>
              <a:t>Why it's still unsolved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2514600"/>
            <a:ext cx="384048" cy="384048"/>
          </a:xfrm>
          <a:prstGeom prst="ellipse">
            <a:avLst/>
          </a:prstGeom>
          <a:solidFill>
            <a:srgbClr val="C8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514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468880"/>
            <a:ext cx="4297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1F3B"/>
                </a:solidFill>
                <a:latin typeface="Arial"/>
              </a:rPr>
              <a:t>India has rules, not reach.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672"/>
                </a:solidFill>
                <a:latin typeface="Arial"/>
              </a:rPr>
              <a:t>13 dark patterns are banned since Nov 2023, but checking a site is still manual, one page at a time.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3749040"/>
            <a:ext cx="384048" cy="384048"/>
          </a:xfrm>
          <a:prstGeom prst="ellipse">
            <a:avLst/>
          </a:prstGeom>
          <a:solidFill>
            <a:srgbClr val="C8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749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03320"/>
            <a:ext cx="4297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1F3B"/>
                </a:solidFill>
                <a:latin typeface="Arial"/>
              </a:rPr>
              <a:t>Every maze is fought alone.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672"/>
                </a:solidFill>
                <a:latin typeface="Arial"/>
              </a:rPr>
              <a:t>Cancel links are hidden, the decline button guilt-trips, and auto-renew is on by default.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4983480"/>
            <a:ext cx="384048" cy="384048"/>
          </a:xfrm>
          <a:prstGeom prst="ellipse">
            <a:avLst/>
          </a:prstGeom>
          <a:solidFill>
            <a:srgbClr val="C8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9834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937760"/>
            <a:ext cx="4297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1F3B"/>
                </a:solidFill>
                <a:latin typeface="Arial"/>
              </a:rPr>
              <a:t>Tools either see or act, never both.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672"/>
                </a:solidFill>
                <a:latin typeface="Arial"/>
              </a:rPr>
              <a:t>Blockers ignore cancel flows. Generic AI browser agents click straight through traps without flagging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02 ·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Scan the trap, walk the cancel flow, stop for your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3/11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694944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55CC"/>
                </a:solidFill>
                <a:latin typeface="Arial"/>
              </a:rPr>
              <a:t>Real output, not a mockup</a:t>
            </a:r>
          </a:p>
        </p:txBody>
      </p:sp>
      <p:pic>
        <p:nvPicPr>
          <p:cNvPr id="10" name="Picture 9" descr="sca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42572"/>
            <a:ext cx="6492240" cy="3453015"/>
          </a:xfrm>
          <a:prstGeom prst="rect">
            <a:avLst/>
          </a:prstGeom>
          <a:ln w="12700">
            <a:solidFill>
              <a:srgbClr val="BFC4C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594360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Scanner run, 20 Oct 2026, on our test site: High risk, 3 traps, each tied to page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411480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55CC"/>
                </a:solidFill>
                <a:latin typeface="Arial"/>
              </a:rPr>
              <a:t>One product, three moves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37744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87168"/>
            <a:ext cx="3291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55CC"/>
                </a:solidFill>
                <a:latin typeface="Arial"/>
              </a:rPr>
              <a:t>1  Scan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Read-only verdict. Every finding shows its evidence quote and a confidence score.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65760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767328"/>
            <a:ext cx="3291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55CC"/>
                </a:solidFill>
                <a:latin typeface="Arial"/>
              </a:rPr>
              <a:t>2  Cancel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The agent reads each screen, declines retention offers, and heads for the real exit.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93776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5047488"/>
            <a:ext cx="3291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55CC"/>
                </a:solidFill>
                <a:latin typeface="Arial"/>
              </a:rPr>
              <a:t>3  Prove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It parks the final irreversible click until you approve, then saves a proof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03 · TARGET USERS AND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Built for the person stuck in the maze, useful to those who police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4/11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603504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19858"/>
            <a:ext cx="5760719" cy="26984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20840" y="1783080"/>
            <a:ext cx="502920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55CC"/>
                </a:solidFill>
                <a:latin typeface="Arial"/>
              </a:rPr>
              <a:t>Use case: one stubborn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231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55C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3B"/>
                </a:solidFill>
                <a:latin typeface="Arial"/>
              </a:rPr>
              <a:t>Pastes the account page URL </a:t>
            </a:r>
            <a:r>
              <a:rPr sz="1300" b="0" i="0">
                <a:solidFill>
                  <a:srgbClr val="5F6672"/>
                </a:solidFill>
                <a:latin typeface="Arial"/>
              </a:rPr>
              <a:t>of a streaming service she no longer watches.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91839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55CC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91839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3B"/>
                </a:solidFill>
                <a:latin typeface="Arial"/>
              </a:rPr>
              <a:t>TrapKiller flags 3 traps </a:t>
            </a:r>
            <a:r>
              <a:rPr sz="1300" b="0" i="0">
                <a:solidFill>
                  <a:srgbClr val="5F6672"/>
                </a:solidFill>
                <a:latin typeface="Arial"/>
              </a:rPr>
              <a:t>a guilt-trip decline, a buried cancel link, silent auto-renew.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1605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55CC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16052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3B"/>
                </a:solidFill>
                <a:latin typeface="Arial"/>
              </a:rPr>
              <a:t>The agent walks the flow </a:t>
            </a:r>
            <a:r>
              <a:rPr sz="1300" b="0" i="0">
                <a:solidFill>
                  <a:srgbClr val="5F6672"/>
                </a:solidFill>
                <a:latin typeface="Arial"/>
              </a:rPr>
              <a:t>declines two retention offers, stops on the final confirm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0292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155CC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02920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3B"/>
                </a:solidFill>
                <a:latin typeface="Arial"/>
              </a:rPr>
              <a:t>She taps Approve </a:t>
            </a:r>
            <a:r>
              <a:rPr sz="1300" b="0" i="0">
                <a:solidFill>
                  <a:srgbClr val="5F6672"/>
                </a:solidFill>
                <a:latin typeface="Arial"/>
              </a:rPr>
              <a:t>proof screenshot and every step are saved, ready if she is charged again.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9436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Illustrative scenario; the flow matches what the agent does on the test site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04 · ROLE OF MACHINE LEARNING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AI decides what is a trap; rules and people keep it honest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Neural head trained on the ec-darkpattern dataset (Yada et al., IEEE BigData 2022): 1,850 training texts, 463 held out, 94.0% overall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5/11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603504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78496"/>
            <a:ext cx="5760720" cy="418116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20840" y="1783080"/>
            <a:ext cx="502920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55CC"/>
                </a:solidFill>
                <a:latin typeface="Arial"/>
              </a:rPr>
              <a:t>Held-out accuracy by class (n = 463)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423160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1F3B"/>
                </a:solidFill>
                <a:latin typeface="Arial"/>
              </a:rPr>
              <a:t>Harmless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211/214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2468879"/>
            <a:ext cx="2377440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2468879"/>
            <a:ext cx="2344155" cy="384048"/>
          </a:xfrm>
          <a:prstGeom prst="rect">
            <a:avLst/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18520" y="2468879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155CC"/>
                </a:solidFill>
                <a:latin typeface="Arial"/>
              </a:rPr>
              <a:t>98.6%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136391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1F3B"/>
                </a:solidFill>
                <a:latin typeface="Arial"/>
              </a:rPr>
              <a:t>False urgency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128/132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3182111"/>
            <a:ext cx="2377440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3182111"/>
            <a:ext cx="2306116" cy="384048"/>
          </a:xfrm>
          <a:prstGeom prst="rect">
            <a:avLst/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18520" y="3182111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155CC"/>
                </a:solidFill>
                <a:latin typeface="Arial"/>
              </a:rPr>
              <a:t>97.0%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849624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1F3B"/>
                </a:solidFill>
                <a:latin typeface="Arial"/>
              </a:rPr>
              <a:t>Social proof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57/64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3895344"/>
            <a:ext cx="2377440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60" y="3895344"/>
            <a:ext cx="2118299" cy="384048"/>
          </a:xfrm>
          <a:prstGeom prst="rect">
            <a:avLst/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20" y="3895344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155CC"/>
                </a:solidFill>
                <a:latin typeface="Arial"/>
              </a:rPr>
              <a:t>89.1%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562856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1F3B"/>
                </a:solidFill>
                <a:latin typeface="Arial"/>
              </a:rPr>
              <a:t>Misdirection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39/53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4608576"/>
            <a:ext cx="2377440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95360" y="4608576"/>
            <a:ext cx="1749795" cy="384048"/>
          </a:xfrm>
          <a:prstGeom prst="rect">
            <a:avLst/>
          </a:prstGeom>
          <a:solidFill>
            <a:srgbClr val="C8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18520" y="4608576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364B"/>
                </a:solidFill>
                <a:latin typeface="Arial"/>
              </a:rPr>
              <a:t>73.6%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394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8364B"/>
                </a:solidFill>
                <a:latin typeface="Arial"/>
              </a:rPr>
              <a:t>Misdirection is our weakest class. </a:t>
            </a:r>
            <a:r>
              <a:rPr sz="1200" b="0" i="0">
                <a:solidFill>
                  <a:srgbClr val="1B1F3B"/>
                </a:solidFill>
                <a:latin typeface="Arial"/>
              </a:rPr>
              <a:t>So the model only reports findings above 85% confidence, and phrase rules plus a grounded LLM back it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05 · PROPOSED 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A six-step agent loop on a stack two students can run on a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6/11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548640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721" y="1874519"/>
            <a:ext cx="4029356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783080"/>
            <a:ext cx="557784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695" y="1874519"/>
            <a:ext cx="3792848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852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Safety rule: </a:t>
            </a:r>
            <a:r>
              <a:rPr sz="1200" b="0" i="0">
                <a:solidFill>
                  <a:srgbClr val="1B1F3B"/>
                </a:solidFill>
                <a:latin typeface="Arial"/>
              </a:rPr>
              <a:t>the agent can only click, type, scroll and wait. Page text is data, never instructions.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06 · TINYFISH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All four TinyFish capabilities, each doing one real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TinyFish docs: docs.tinyfish.ai (Search API, Fetch API, Agent API, Browser 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7/11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2697480" cy="29718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947672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55CC"/>
                </a:solidFill>
                <a:latin typeface="Arial"/>
              </a:rPr>
              <a:t>Search API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F6672"/>
                </a:solidFill>
                <a:latin typeface="Arial"/>
              </a:rPr>
              <a:t>Finds the way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User types only "StreamVault". Search returns the account, cancel and help pages, plus public complaints about the service.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783080"/>
            <a:ext cx="2697480" cy="29718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8728" y="1965960"/>
            <a:ext cx="457200" cy="457200"/>
          </a:xfrm>
          <a:prstGeom prst="ellipse">
            <a:avLst/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965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947672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55CC"/>
                </a:solidFill>
                <a:latin typeface="Arial"/>
              </a:rPr>
              <a:t>Fetch API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F6672"/>
                </a:solidFill>
                <a:latin typeface="Arial"/>
              </a:rPr>
              <a:t>Feeds the detector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606040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Fetches those pages as clean text (JS rendered, 10 URLs per call). Our neural detector scans every sentence for traps.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783080"/>
            <a:ext cx="2697480" cy="29718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1656" y="1965960"/>
            <a:ext cx="457200" cy="457200"/>
          </a:xfrm>
          <a:prstGeom prst="ellipse">
            <a:avLst/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1965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47672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55CC"/>
                </a:solidFill>
                <a:latin typeface="Arial"/>
              </a:rPr>
              <a:t>Browser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F6672"/>
                </a:solidFill>
                <a:latin typeface="Arial"/>
              </a:rPr>
              <a:t>Runs our own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606040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Our LangGraph agent drives a TinyFish cloud browser through Playwright over CDP, instead of a local Chromium.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1783080"/>
            <a:ext cx="2697480" cy="29718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44584" y="1965960"/>
            <a:ext cx="457200" cy="457200"/>
          </a:xfrm>
          <a:prstGeom prst="ellipse">
            <a:avLst/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1965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1947672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55CC"/>
                </a:solidFill>
                <a:latin typeface="Arial"/>
              </a:rPr>
              <a:t>Web Agent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F6672"/>
                </a:solidFill>
                <a:latin typeface="Arial"/>
              </a:rPr>
              <a:t>Walks flows at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2606040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Natural-language goal: "decline offers, stop before final confirm". Runs live for one user, or in batches for a sweep.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37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55CC"/>
                </a:solidFill>
                <a:latin typeface="Arial"/>
              </a:rPr>
              <a:t>ONE SCAN, END TO 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20"/>
            <a:ext cx="1280160" cy="566928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B1F3B"/>
                </a:solidFill>
                <a:latin typeface="Arial"/>
              </a:rPr>
              <a:t>Company name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64792" y="5586984"/>
            <a:ext cx="201168" cy="0"/>
          </a:xfrm>
          <a:prstGeom prst="line">
            <a:avLst/>
          </a:prstGeom>
          <a:ln w="22225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993391" y="5303520"/>
            <a:ext cx="914400" cy="566928"/>
          </a:xfrm>
          <a:prstGeom prst="roundRect">
            <a:avLst>
              <a:gd name="adj" fmla="val 30000"/>
            </a:avLst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93391" y="530352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Search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935223" y="5586984"/>
            <a:ext cx="201168" cy="0"/>
          </a:xfrm>
          <a:prstGeom prst="line">
            <a:avLst/>
          </a:prstGeom>
          <a:ln w="22225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163824" y="5303520"/>
            <a:ext cx="914400" cy="566928"/>
          </a:xfrm>
          <a:prstGeom prst="roundRect">
            <a:avLst>
              <a:gd name="adj" fmla="val 30000"/>
            </a:avLst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63824" y="530352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Fetch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05656" y="5586984"/>
            <a:ext cx="201168" cy="0"/>
          </a:xfrm>
          <a:prstGeom prst="line">
            <a:avLst/>
          </a:prstGeom>
          <a:ln w="22225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334256" y="5303520"/>
            <a:ext cx="1828800" cy="566928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4256" y="5303520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Detect traps (ours)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90488" y="5586984"/>
            <a:ext cx="201168" cy="0"/>
          </a:xfrm>
          <a:prstGeom prst="line">
            <a:avLst/>
          </a:prstGeom>
          <a:ln w="22225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419088" y="5303520"/>
            <a:ext cx="1920240" cy="566928"/>
          </a:xfrm>
          <a:prstGeom prst="roundRect">
            <a:avLst>
              <a:gd name="adj" fmla="val 30000"/>
            </a:avLst>
          </a:prstGeom>
          <a:solidFill>
            <a:srgbClr val="115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5303520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Browser / Web Agent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66760" y="5586984"/>
            <a:ext cx="201168" cy="0"/>
          </a:xfrm>
          <a:prstGeom prst="line">
            <a:avLst/>
          </a:prstGeom>
          <a:ln w="22225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595360" y="5303520"/>
            <a:ext cx="1737360" cy="566928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530352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You approve (ours)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360152" y="5586984"/>
            <a:ext cx="201168" cy="0"/>
          </a:xfrm>
          <a:prstGeom prst="line">
            <a:avLst/>
          </a:prstGeom>
          <a:ln w="22225">
            <a:solidFill>
              <a:srgbClr val="1B1F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588752" y="5303520"/>
            <a:ext cx="822960" cy="566928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88752" y="5303520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B1F3B"/>
                </a:solidFill>
                <a:latin typeface="Arial"/>
              </a:rPr>
              <a:t>Proof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F3B"/>
                </a:solidFill>
                <a:latin typeface="Arial"/>
              </a:rPr>
              <a:t>Blue = TinyFish. Dark = TrapKiller's own AI and safety step. </a:t>
            </a:r>
            <a:r>
              <a:rPr sz="1200" b="0" i="0">
                <a:solidFill>
                  <a:srgbClr val="5F6672"/>
                </a:solidFill>
                <a:latin typeface="Arial"/>
              </a:rPr>
              <a:t>TinyFish gives us the live web; we decide what is a trap and when to stop.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06 · TINYFISH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How TrapKiller calls each TinyFish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Endpoints and fields from the TinyFish API reference (docs.tinyfish.ai). Every call sends X-API-Key: $TINYFISH_API_KEY from .env.local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8/11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92840" cy="392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240280"/>
                <a:gridCol w="2743200"/>
                <a:gridCol w="2697480"/>
                <a:gridCol w="22860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API</a:t>
                      </a:r>
                    </a:p>
                  </a:txBody>
                  <a:tcPr marL="91440" marR="91440" marT="36576" marB="36576" anchor="ctr">
                    <a:solidFill>
                      <a:srgbClr val="1B1F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Call</a:t>
                      </a:r>
                    </a:p>
                  </a:txBody>
                  <a:tcPr marL="91440" marR="91440" marT="36576" marB="36576" anchor="ctr">
                    <a:solidFill>
                      <a:srgbClr val="1B1F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we send</a:t>
                      </a:r>
                    </a:p>
                  </a:txBody>
                  <a:tcPr marL="91440" marR="91440" marT="36576" marB="36576" anchor="ctr">
                    <a:solidFill>
                      <a:srgbClr val="1B1F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we read back</a:t>
                      </a:r>
                    </a:p>
                  </a:txBody>
                  <a:tcPr marL="91440" marR="91440" marT="36576" marB="36576" anchor="ctr">
                    <a:solidFill>
                      <a:srgbClr val="1B1F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Plugs into TrapKiller</a:t>
                      </a:r>
                    </a:p>
                  </a:txBody>
                  <a:tcPr marL="91440" marR="91440" marT="36576" marB="36576" anchor="ctr">
                    <a:solidFill>
                      <a:srgbClr val="1B1F3B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155CC"/>
                          </a:solidFill>
                          <a:latin typeface="Arial"/>
                        </a:rPr>
                        <a:t>1  Search</a:t>
                      </a:r>
                    </a:p>
                  </a:txBody>
                  <a:tcPr marL="91440" marR="91440" marT="36576" marB="36576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1F3B"/>
                          </a:solidFill>
                          <a:latin typeface="Courier New"/>
                        </a:rPr>
                        <a:t>GET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api.search.tinyfish.ai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query="StreamVault cancel"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purpose, language="en"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results[].url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results[].title, snippet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→ cancel + help pages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55CC"/>
                          </a:solidFill>
                          <a:latin typeface="Courier New"/>
                        </a:rPr>
                        <a:t>api/scanner/analyze</a:t>
                      </a:r>
                    </a:p>
                    <a:p>
                      <a:r>
                        <a:rPr sz="1150" b="0">
                          <a:solidFill>
                            <a:srgbClr val="1155CC"/>
                          </a:solidFill>
                          <a:latin typeface="Courier New"/>
                        </a:rPr>
                        <a:t>name → page URLs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155CC"/>
                          </a:solidFill>
                          <a:latin typeface="Arial"/>
                        </a:rPr>
                        <a:t>2  Fetch</a:t>
                      </a:r>
                    </a:p>
                  </a:txBody>
                  <a:tcPr marL="91440" marR="91440" marT="36576" marB="36576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1F3B"/>
                          </a:solidFill>
                          <a:latin typeface="Courier New"/>
                        </a:rPr>
                        <a:t>POST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api.fetch.tinyfish.ai</a:t>
                      </a:r>
                    </a:p>
                  </a:txBody>
                  <a:tcPr marL="91440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urls=[up to 10 pages]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format="markdown"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links=true, ttl=0</a:t>
                      </a:r>
                    </a:p>
                  </a:txBody>
                  <a:tcPr marL="91440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results[].text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results[].final_url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errors[] per URL</a:t>
                      </a:r>
                    </a:p>
                  </a:txBody>
                  <a:tcPr marL="91440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55CC"/>
                          </a:solidFill>
                          <a:latin typeface="Courier New"/>
                        </a:rPr>
                        <a:t>detection/classifier.ts</a:t>
                      </a:r>
                    </a:p>
                    <a:p>
                      <a:r>
                        <a:rPr sz="1150" b="0">
                          <a:solidFill>
                            <a:srgbClr val="1155CC"/>
                          </a:solidFill>
                          <a:latin typeface="Courier New"/>
                        </a:rPr>
                        <a:t>text → neural detector</a:t>
                      </a:r>
                    </a:p>
                  </a:txBody>
                  <a:tcPr marL="91440" marR="91440" marT="36576" marB="36576" anchor="ctr">
                    <a:solidFill>
                      <a:srgbClr val="F3F5F8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155CC"/>
                          </a:solidFill>
                          <a:latin typeface="Arial"/>
                        </a:rPr>
                        <a:t>3  Browser</a:t>
                      </a:r>
                    </a:p>
                  </a:txBody>
                  <a:tcPr marL="91440" marR="91440" marT="36576" marB="36576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1F3B"/>
                          </a:solidFill>
                          <a:latin typeface="Courier New"/>
                        </a:rPr>
                        <a:t>POST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api.browser.tinyfish.ai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DELETE /{session_id}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url=&lt;cancel page&gt;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timeout_seconds=300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session_id, cdp_url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→ connectOverCDP(cdp_url)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55CC"/>
                          </a:solidFill>
                          <a:latin typeface="Courier New"/>
                        </a:rPr>
                        <a:t>browser/manager.ts</a:t>
                      </a:r>
                    </a:p>
                    <a:p>
                      <a:r>
                        <a:rPr sz="1150" b="0">
                          <a:solidFill>
                            <a:srgbClr val="1155CC"/>
                          </a:solidFill>
                          <a:latin typeface="Courier New"/>
                        </a:rPr>
                        <a:t>replaces local Chromium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155CC"/>
                          </a:solidFill>
                          <a:latin typeface="Arial"/>
                        </a:rPr>
                        <a:t>4  Web Agent</a:t>
                      </a:r>
                    </a:p>
                  </a:txBody>
                  <a:tcPr marL="91440" marR="91440" marT="36576" marB="36576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1F3B"/>
                          </a:solidFill>
                          <a:latin typeface="Courier New"/>
                        </a:rPr>
                        <a:t>POST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agent.tinyfish.ai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/v1/automation/run-sse</a:t>
                      </a:r>
                    </a:p>
                  </a:txBody>
                  <a:tcPr marL="91440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url, goal="Decline offers;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  STOP before confirm"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max_steps=40</a:t>
                      </a:r>
                    </a:p>
                  </a:txBody>
                  <a:tcPr marL="91440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STREAMING_URL (live view)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PROGRESS, COMPLETE</a:t>
                      </a:r>
                    </a:p>
                    <a:p>
                      <a:r>
                        <a:rPr sz="1150" b="0">
                          <a:solidFill>
                            <a:srgbClr val="1B1F3B"/>
                          </a:solidFill>
                          <a:latin typeface="Courier New"/>
                        </a:rPr>
                        <a:t>/run-async for sweeps</a:t>
                      </a:r>
                    </a:p>
                  </a:txBody>
                  <a:tcPr marL="91440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55CC"/>
                          </a:solidFill>
                          <a:latin typeface="Courier New"/>
                        </a:rPr>
                        <a:t>agent/runner.ts</a:t>
                      </a:r>
                    </a:p>
                    <a:p>
                      <a:r>
                        <a:rPr sz="1150" b="0">
                          <a:solidFill>
                            <a:srgbClr val="1155CC"/>
                          </a:solidFill>
                          <a:latin typeface="Courier New"/>
                        </a:rPr>
                        <a:t>queue/runner.ts (sweeps)</a:t>
                      </a:r>
                    </a:p>
                  </a:txBody>
                  <a:tcPr marL="91440" marR="91440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852160"/>
            <a:ext cx="11292840" cy="5486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852160"/>
            <a:ext cx="10881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One scan: </a:t>
            </a:r>
            <a:r>
              <a:rPr sz="1200" b="0" i="0">
                <a:solidFill>
                  <a:srgbClr val="1B1F3B"/>
                </a:solidFill>
                <a:latin typeface="Arial"/>
              </a:rPr>
              <a:t>Search finds pages → Fetch gives clean text → our detector flags traps → Browser or Web Agent walks the flow → you approve → proof.  </a:t>
            </a:r>
            <a:r>
              <a:rPr sz="1200" b="0" i="0">
                <a:solidFill>
                  <a:srgbClr val="5F6672"/>
                </a:solidFill>
                <a:latin typeface="Arial"/>
              </a:rPr>
              <a:t>If TinyFish is unreachable, the agent falls back to local Playwright.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07 · EXPECTED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Each scan turns a hidden trick into evidence someone can act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● does it   ○ partly   — no   * planned with TinyFish · Comparison is our own assessment of typical tools in each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9/11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512064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55CC"/>
                </a:solidFill>
                <a:latin typeface="Arial"/>
              </a:rPr>
              <a:t>Who gains what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31720"/>
            <a:ext cx="2267712" cy="1783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68879"/>
            <a:ext cx="1965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55CC"/>
                </a:solidFill>
                <a:latin typeface="Arial"/>
              </a:rPr>
              <a:t>Consumers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1F3B"/>
                </a:solidFill>
                <a:latin typeface="Arial"/>
              </a:rPr>
              <a:t>Stop unwanted charges before the renewal date, without hours of clicking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81528" y="2331720"/>
            <a:ext cx="2267712" cy="1783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468879"/>
            <a:ext cx="1965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55CC"/>
                </a:solidFill>
                <a:latin typeface="Arial"/>
              </a:rPr>
              <a:t>Advocates &amp; helplines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1F3B"/>
                </a:solidFill>
                <a:latin typeface="Arial"/>
              </a:rPr>
              <a:t>Complaint-ready packs: quote, screenshot, every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51960"/>
            <a:ext cx="2267712" cy="1783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389120"/>
            <a:ext cx="1965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55CC"/>
                </a:solidFill>
                <a:latin typeface="Arial"/>
              </a:rPr>
              <a:t>Regulators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1F3B"/>
                </a:solidFill>
                <a:latin typeface="Arial"/>
              </a:rPr>
              <a:t>A ranked list of sites to inspect, instead of manual spot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81528" y="4251960"/>
            <a:ext cx="2267712" cy="1783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4389120"/>
            <a:ext cx="1965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55CC"/>
                </a:solidFill>
                <a:latin typeface="Arial"/>
              </a:rPr>
              <a:t>The market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1F3B"/>
                </a:solidFill>
                <a:latin typeface="Arial"/>
              </a:rPr>
              <a:t>Public trap scores reward companies that design fairly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783080"/>
            <a:ext cx="594360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920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55CC"/>
                </a:solidFill>
                <a:latin typeface="Arial"/>
              </a:rPr>
              <a:t>How TrapKiller compares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035040" y="228600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731520"/>
                <a:gridCol w="868680"/>
                <a:gridCol w="960120"/>
                <a:gridCol w="868680"/>
              </a:tblGrid>
              <a:tr h="548640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F3B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marL="54864" marR="54864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F3B"/>
                          </a:solidFill>
                          <a:latin typeface="Arial"/>
                        </a:rPr>
                        <a:t>Blocker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B1F3B"/>
                          </a:solidFill>
                          <a:latin typeface="Arial"/>
                        </a:rPr>
                        <a:t>extensions</a:t>
                      </a:r>
                    </a:p>
                  </a:txBody>
                  <a:tcPr marL="54864" marR="54864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F3B"/>
                          </a:solidFill>
                          <a:latin typeface="Arial"/>
                        </a:rPr>
                        <a:t>Generic AI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B1F3B"/>
                          </a:solidFill>
                          <a:latin typeface="Arial"/>
                        </a:rPr>
                        <a:t>browser agent</a:t>
                      </a:r>
                    </a:p>
                  </a:txBody>
                  <a:tcPr marL="54864" marR="54864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55CC"/>
                          </a:solidFill>
                          <a:latin typeface="Arial"/>
                        </a:rPr>
                        <a:t>TrapKiller</a:t>
                      </a:r>
                    </a:p>
                  </a:txBody>
                  <a:tcPr marL="54864" marR="54864" anchor="ctr">
                    <a:solidFill>
                      <a:srgbClr val="E8EE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3B"/>
                          </a:solidFill>
                          <a:latin typeface="Arial"/>
                        </a:rPr>
                        <a:t>Flags dark patterns with evidence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55CC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54864" marR="54864" anchor="ctr">
                    <a:solidFill>
                      <a:srgbClr val="E8EE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3B"/>
                          </a:solidFill>
                          <a:latin typeface="Arial"/>
                        </a:rPr>
                        <a:t>Walks the cancel flow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55CC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54864" marR="54864" anchor="ctr">
                    <a:solidFill>
                      <a:srgbClr val="E8EE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3B"/>
                          </a:solidFill>
                          <a:latin typeface="Arial"/>
                        </a:rPr>
                        <a:t>Stops before the irreversible click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55CC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54864" marR="54864" anchor="ctr">
                    <a:solidFill>
                      <a:srgbClr val="E8EE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3B"/>
                          </a:solidFill>
                          <a:latin typeface="Arial"/>
                        </a:rPr>
                        <a:t>Saves a proof screenshot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55CC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54864" marR="54864" anchor="ctr">
                    <a:solidFill>
                      <a:srgbClr val="E8EE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3B"/>
                          </a:solidFill>
                          <a:latin typeface="Arial"/>
                        </a:rPr>
                        <a:t>Learns the shortest route over runs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55CC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54864" marR="54864" anchor="ctr">
                    <a:solidFill>
                      <a:srgbClr val="E8EE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F3B"/>
                          </a:solidFill>
                          <a:latin typeface="Arial"/>
                        </a:rPr>
                        <a:t>Sweeps many sites at once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F3B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55CC"/>
                          </a:solidFill>
                          <a:latin typeface="Arial"/>
                        </a:rPr>
                        <a:t>○*</a:t>
                      </a:r>
                    </a:p>
                  </a:txBody>
                  <a:tcPr marL="54864" marR="54864" anchor="ctr"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08 ·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It already runs end to end; the risks have named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Checked on 20 Oct 2026: npm test 74/74 passing; scan and agent run against the StreamVault test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10/11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539496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155CC"/>
                </a:solidFill>
                <a:latin typeface="Arial"/>
              </a:rPr>
              <a:t>Working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414016"/>
            <a:ext cx="274320" cy="2743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140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77440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Full loop on the test site: scan → agent → approval pause → proof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962656"/>
            <a:ext cx="274320" cy="2743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6265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26080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74 of 74 automated tests pass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511296"/>
            <a:ext cx="274320" cy="2743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11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74720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Neural detector: 94.0% on held-out data, runs on CPU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059936"/>
            <a:ext cx="274320" cy="2743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599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23360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Zero paid services needed: LLM and Neo4j are optional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608576"/>
            <a:ext cx="274320" cy="27432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085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572000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1F3B"/>
                </a:solidFill>
                <a:latin typeface="Arial"/>
              </a:rPr>
              <a:t>13-type taxonomy uses the names in India's 2023 guidelines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8364B"/>
                </a:solidFill>
                <a:latin typeface="Arial"/>
              </a:rPr>
              <a:t>Being fixed now: </a:t>
            </a:r>
            <a:r>
              <a:rPr sz="1200" b="0" i="0">
                <a:solidFill>
                  <a:srgbClr val="1B1F3B"/>
                </a:solidFill>
                <a:latin typeface="Arial"/>
              </a:rPr>
              <a:t>an unverified run can still be reported as cancelled, and Reject/Stop are not fully wired to the running agent.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1783080"/>
            <a:ext cx="5669280" cy="4572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26898"/>
            <a:ext cx="5394960" cy="3684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74320"/>
            <a:ext cx="1737360" cy="438912"/>
          </a:xfrm>
          <a:prstGeom prst="ellipse">
            <a:avLst/>
          </a:prstGeom>
          <a:noFill/>
          <a:ln w="19050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B1F3B"/>
                </a:solidFill>
                <a:latin typeface="Arial"/>
              </a:rPr>
              <a:t>TrapKiller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F6672"/>
                </a:solidFill>
                <a:latin typeface="Arial"/>
              </a:rPr>
              <a:t>AI/ML Track · Open Innovation · Built with TinyFish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155CC"/>
                </a:solidFill>
                <a:latin typeface="Arial"/>
              </a:rPr>
              <a:t>09 ·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B1F3B"/>
                </a:solidFill>
                <a:latin typeface="Arial"/>
              </a:rPr>
              <a:t>From one test site to a public trap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F6672"/>
                </a:solidFill>
                <a:latin typeface="Arial"/>
              </a:rPr>
              <a:t>11/11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92840" cy="34290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1B1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07" y="1920240"/>
            <a:ext cx="9801225" cy="3200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5394960"/>
            <a:ext cx="11292840" cy="960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789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9FE3C1"/>
                </a:solidFill>
                <a:latin typeface="Arial"/>
              </a:rPr>
              <a:t>Our ask: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TinyFish credits to run the first 500-site sweep, so we can publish India's first trap-score ranking of subscription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